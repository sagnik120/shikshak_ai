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7087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828800"/>
            <a:ext cx="5120640" cy="5120640"/>
          </a:xfrm>
          <a:prstGeom prst="ellipse">
            <a:avLst/>
          </a:prstGeom>
          <a:solidFill>
            <a:srgbClr val="1630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822960"/>
            <a:ext cx="2743200" cy="2743200"/>
          </a:xfrm>
          <a:prstGeom prst="ellipse">
            <a:avLst/>
          </a:prstGeom>
          <a:solidFill>
            <a:srgbClr val="2F5A8C"/>
          </a:solidFill>
          <a:ln/>
        </p:spPr>
      </p:sp>
      <p:sp>
        <p:nvSpPr>
          <p:cNvPr id="4" name="Shape 2"/>
          <p:cNvSpPr/>
          <p:nvPr/>
        </p:nvSpPr>
        <p:spPr>
          <a:xfrm>
            <a:off x="11109960" y="-228600"/>
            <a:ext cx="1554480" cy="15544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/home/claude/shikshak/icons/graduation_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587" y="-10973"/>
            <a:ext cx="1119226" cy="11192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41732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SHIKSHAK AI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Teacher That Doesn’t Just Answer — It Teaches.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grounded, and adaptive learning powered by AI — proposed for Morrow 1.0, Round 1.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703320"/>
            <a:ext cx="2880360" cy="1051560"/>
          </a:xfrm>
          <a:prstGeom prst="roundRect">
            <a:avLst>
              <a:gd name="adj" fmla="val 7826"/>
            </a:avLst>
          </a:prstGeom>
          <a:solidFill>
            <a:srgbClr val="16304D"/>
          </a:solidFill>
          <a:ln w="12700">
            <a:solidFill>
              <a:srgbClr val="2E4D6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87552" y="39364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/home/claude/shiksha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482" y="4018422"/>
            <a:ext cx="421356" cy="4213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7033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758184" y="4128516"/>
            <a:ext cx="256032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4" name="Shape 10"/>
          <p:cNvSpPr/>
          <p:nvPr/>
        </p:nvSpPr>
        <p:spPr>
          <a:xfrm>
            <a:off x="4069080" y="3703320"/>
            <a:ext cx="2880360" cy="1051560"/>
          </a:xfrm>
          <a:prstGeom prst="roundRect">
            <a:avLst>
              <a:gd name="adj" fmla="val 7826"/>
            </a:avLst>
          </a:prstGeom>
          <a:solidFill>
            <a:srgbClr val="2F5A8C"/>
          </a:solidFill>
          <a:ln w="12700">
            <a:solidFill>
              <a:srgbClr val="2E4D6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33672" y="39364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shikshak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602" y="4018422"/>
            <a:ext cx="421356" cy="4213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937760" y="37033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TEACHER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004304" y="4128516"/>
            <a:ext cx="256032" cy="201168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9" name="Shape 14"/>
          <p:cNvSpPr/>
          <p:nvPr/>
        </p:nvSpPr>
        <p:spPr>
          <a:xfrm>
            <a:off x="7315200" y="3703320"/>
            <a:ext cx="2880360" cy="1051560"/>
          </a:xfrm>
          <a:prstGeom prst="roundRect">
            <a:avLst>
              <a:gd name="adj" fmla="val 7826"/>
            </a:avLst>
          </a:prstGeom>
          <a:solidFill>
            <a:srgbClr val="16304D"/>
          </a:solidFill>
          <a:ln w="12700">
            <a:solidFill>
              <a:srgbClr val="2E4D6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79792" y="3936492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/home/claude/shikshak/icons/chart_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1722" y="4018422"/>
            <a:ext cx="421356" cy="4213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183880" y="37033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822960" y="507492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16304D"/>
          </a:solidFill>
          <a:ln w="12700">
            <a:solidFill>
              <a:srgbClr val="2E4D6B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09728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BINARY BRAINS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1097280" y="5577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Sagnik Chandra </a:t>
            </a:r>
            <a:r>
              <a:rPr lang="en-US" sz="1600" i="1" dirty="0">
                <a:solidFill>
                  <a:srgbClr val="AF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(Team Leader)</a:t>
            </a:r>
            <a:r>
              <a:rPr lang="en-US" sz="1600" dirty="0">
                <a:solidFill>
                  <a:srgbClr val="5B7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   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Shrusti Jain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MORROW 1.0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Is Still Too One-Size-Fits-All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3703320"/>
          </a:xfrm>
          <a:prstGeom prst="roundRect">
            <a:avLst>
              <a:gd name="adj" fmla="val 2133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1801368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/home/claude/shikshak/icons/book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874" y="1916582"/>
            <a:ext cx="592531" cy="5925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88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Learning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9184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receives the exact same content, at the same pace, regardless of what they already understand or where they struggle.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429000" cy="3703320"/>
          </a:xfrm>
          <a:prstGeom prst="roundRect">
            <a:avLst>
              <a:gd name="adj" fmla="val 2133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00700" y="1801368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1" name="Image 1" descr="/home/claude/shikshak/icons/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914" y="1916582"/>
            <a:ext cx="592531" cy="59253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97680" y="2788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29184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chatbots only react to what is asked. A student who doesn’t know the right question to ask gets little real help.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429000" cy="3703320"/>
          </a:xfrm>
          <a:prstGeom prst="roundRect">
            <a:avLst>
              <a:gd name="adj" fmla="val 2133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49740" y="1801368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6" name="Image 2" descr="/home/claude/shikshak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954" y="1916582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46720" y="2788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Tutoring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29184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tutoring adapts beautifully to the learner, but it is expensive and depends entirely on tutor availability to scale.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44068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22960" y="544068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an AI that can teach — not just respond.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MORROW 1.0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Shikshak AI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uploads material or names a topic, sets their level and available time, and Shikshak AI turns that single request into a complete, personalized teaching session — from first explanation to final feedback.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627632" cy="1691640"/>
          </a:xfrm>
          <a:prstGeom prst="roundRect">
            <a:avLst>
              <a:gd name="adj" fmla="val 4494"/>
            </a:avLst>
          </a:prstGeom>
          <a:solidFill>
            <a:srgbClr val="EAF1F8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258568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7" name="Image 0" descr="/home/claude/shikshak/icons/file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444" y="2350740"/>
            <a:ext cx="474025" cy="4740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30175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/ Material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196389" y="2514600"/>
            <a:ext cx="219456" cy="201168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10" name="Shape 7"/>
          <p:cNvSpPr/>
          <p:nvPr/>
        </p:nvSpPr>
        <p:spPr>
          <a:xfrm>
            <a:off x="2435962" y="2057400"/>
            <a:ext cx="1627632" cy="1691640"/>
          </a:xfrm>
          <a:prstGeom prst="roundRect">
            <a:avLst>
              <a:gd name="adj" fmla="val 4494"/>
            </a:avLst>
          </a:prstGeom>
          <a:solidFill>
            <a:srgbClr val="EAF1F8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0594" y="2258568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" name="Image 1" descr="/home/claude/shikshak/icons/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765" y="2350740"/>
            <a:ext cx="474025" cy="4740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509114" y="30175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Context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083710" y="2514600"/>
            <a:ext cx="219456" cy="201168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15" name="Shape 11"/>
          <p:cNvSpPr/>
          <p:nvPr/>
        </p:nvSpPr>
        <p:spPr>
          <a:xfrm>
            <a:off x="4323283" y="2057400"/>
            <a:ext cx="1627632" cy="1691640"/>
          </a:xfrm>
          <a:prstGeom prst="roundRect">
            <a:avLst>
              <a:gd name="adj" fmla="val 4494"/>
            </a:avLst>
          </a:prstGeom>
          <a:solidFill>
            <a:srgbClr val="EAF1F8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07915" y="2258568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7" name="Image 2" descr="/home/claude/shikshak/icons/clipboard_l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087" y="2350740"/>
            <a:ext cx="474025" cy="4740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96435" y="30175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71032" y="2514600"/>
            <a:ext cx="219456" cy="201168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20" name="Shape 15"/>
          <p:cNvSpPr/>
          <p:nvPr/>
        </p:nvSpPr>
        <p:spPr>
          <a:xfrm>
            <a:off x="6210605" y="2057400"/>
            <a:ext cx="1627632" cy="1691640"/>
          </a:xfrm>
          <a:prstGeom prst="roundRect">
            <a:avLst>
              <a:gd name="adj" fmla="val 4494"/>
            </a:avLst>
          </a:prstGeom>
          <a:solidFill>
            <a:srgbClr val="EAF1F8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95237" y="2258568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2" name="Image 3" descr="/home/claude/shikshak/icons/chalkboard_teach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7408" y="2350740"/>
            <a:ext cx="474025" cy="47402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83757" y="30175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858354" y="2514600"/>
            <a:ext cx="219456" cy="201168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25" name="Shape 19"/>
          <p:cNvSpPr/>
          <p:nvPr/>
        </p:nvSpPr>
        <p:spPr>
          <a:xfrm>
            <a:off x="8097926" y="2057400"/>
            <a:ext cx="1627632" cy="1691640"/>
          </a:xfrm>
          <a:prstGeom prst="roundRect">
            <a:avLst>
              <a:gd name="adj" fmla="val 4494"/>
            </a:avLst>
          </a:prstGeom>
          <a:solidFill>
            <a:srgbClr val="EAF1F8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582558" y="2258568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4" descr="/home/claude/shikshak/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4730" y="2350740"/>
            <a:ext cx="474025" cy="47402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171078" y="30175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9745675" y="2514600"/>
            <a:ext cx="219456" cy="201168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30" name="Shape 23"/>
          <p:cNvSpPr/>
          <p:nvPr/>
        </p:nvSpPr>
        <p:spPr>
          <a:xfrm>
            <a:off x="9985248" y="2057400"/>
            <a:ext cx="1627632" cy="1691640"/>
          </a:xfrm>
          <a:prstGeom prst="roundRect">
            <a:avLst>
              <a:gd name="adj" fmla="val 4494"/>
            </a:avLst>
          </a:prstGeom>
          <a:solidFill>
            <a:srgbClr val="EAF1F8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10469880" y="2258568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2" name="Image 5" descr="/home/claude/shikshak/icons/check_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2052" y="2350740"/>
            <a:ext cx="474025" cy="47402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058400" y="301752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Feedback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48640" y="4114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22960" y="42793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900" b="1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me this chapter in 20 minutes. I’m a beginner.</a:t>
            </a: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2600" dirty="0"/>
          </a:p>
        </p:txBody>
      </p:sp>
      <p:sp>
        <p:nvSpPr>
          <p:cNvPr id="36" name="Text 28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reads this one sentence as a full brief — goal, level, and time budget — and plans a real lesson around it, not just a single reply.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teaching that begins from where the learner actually is, not a generic starting point.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MORROW 1.0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SHIKSHAK TEACHES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Answering to Teaching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lesson runs on one repeating loop — the same rhythm a real teacher follows 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classroom.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642616" y="2368296"/>
            <a:ext cx="749808" cy="74980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/home/claude/shiksha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589" y="2473269"/>
            <a:ext cx="539862" cy="5398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23160" y="20025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12484" y="2770028"/>
            <a:ext cx="749808" cy="749808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9" name="Image 1" descr="/home/claude/shikshak/icons/clipboard_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457" y="2875001"/>
            <a:ext cx="539862" cy="53986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19769" y="2581031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014216" y="3739896"/>
            <a:ext cx="749808" cy="74980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" name="Image 2" descr="/home/claude/shikshak/icons/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9189" y="3844869"/>
            <a:ext cx="539862" cy="5398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398264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612484" y="4709764"/>
            <a:ext cx="749808" cy="749808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5" name="Image 3" descr="/home/claude/shikshak/icons/play_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457" y="4814737"/>
            <a:ext cx="539862" cy="53986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819769" y="5374249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2642616" y="5111496"/>
            <a:ext cx="749808" cy="74980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8" name="Image 4" descr="/home/claude/shikshak/icons/question_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7589" y="5216469"/>
            <a:ext cx="539862" cy="53986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423160" y="59527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1672748" y="4709764"/>
            <a:ext cx="749808" cy="749808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21" name="Image 5" descr="/home/claude/shikshak/icons/check_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7721" y="4814737"/>
            <a:ext cx="539862" cy="53986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26551" y="5374249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1271016" y="3739896"/>
            <a:ext cx="749808" cy="74980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4" name="Image 6" descr="/home/claude/shikshak/icons/syn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5989" y="3844869"/>
            <a:ext cx="539862" cy="53986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48056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1672748" y="2770028"/>
            <a:ext cx="749808" cy="749808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27" name="Image 7" descr="/home/claude/shikshak/icons/rou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7721" y="2875001"/>
            <a:ext cx="539862" cy="539862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26551" y="2581031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050" dirty="0"/>
          </a:p>
        </p:txBody>
      </p:sp>
      <p:sp>
        <p:nvSpPr>
          <p:cNvPr id="29" name="Shape 19"/>
          <p:cNvSpPr/>
          <p:nvPr/>
        </p:nvSpPr>
        <p:spPr>
          <a:xfrm>
            <a:off x="2304288" y="3401568"/>
            <a:ext cx="1426464" cy="142646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0"/>
          <p:cNvSpPr txBox="1"/>
          <p:nvPr/>
        </p:nvSpPr>
        <p:spPr>
          <a:xfrm>
            <a:off x="2304288" y="3401568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7178040" y="1234440"/>
            <a:ext cx="4434840" cy="187452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7452360" y="1371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Struggling Student, Step by Step</a:t>
            </a:r>
            <a:endParaRPr lang="en-US" sz="1400" dirty="0"/>
          </a:p>
        </p:txBody>
      </p:sp>
      <p:sp>
        <p:nvSpPr>
          <p:cNvPr id="33" name="Text 23"/>
          <p:cNvSpPr txBox="1"/>
          <p:nvPr/>
        </p:nvSpPr>
        <p:spPr>
          <a:xfrm>
            <a:off x="7452360" y="178308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answers incorrectly. Shikshak AI pinpoints exactly where the gap is, swaps in a new explanation or analogy, asks a follow-up question to check whether it landed, and only then moves the lesson forward.</a:t>
            </a:r>
            <a:endParaRPr lang="en-US" sz="1250" dirty="0"/>
          </a:p>
        </p:txBody>
      </p:sp>
      <p:sp>
        <p:nvSpPr>
          <p:cNvPr id="34" name="Shape 24"/>
          <p:cNvSpPr/>
          <p:nvPr/>
        </p:nvSpPr>
        <p:spPr>
          <a:xfrm>
            <a:off x="7178040" y="32918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5" name="Image 8" descr="/home/claude/shiksha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410" y="3371210"/>
            <a:ext cx="408188" cy="408188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891272" y="327355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&amp; Plan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7891272" y="3566160"/>
            <a:ext cx="3721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 before a single word is taught — what to cover, and in what order.</a:t>
            </a:r>
            <a:endParaRPr lang="en-US" sz="1150" dirty="0"/>
          </a:p>
        </p:txBody>
      </p:sp>
      <p:sp>
        <p:nvSpPr>
          <p:cNvPr id="38" name="Shape 27"/>
          <p:cNvSpPr/>
          <p:nvPr/>
        </p:nvSpPr>
        <p:spPr>
          <a:xfrm>
            <a:off x="7178040" y="4187952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9" name="Image 9" descr="/home/claude/shikshak/icons/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410" y="4267322"/>
            <a:ext cx="408188" cy="40818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7891272" y="4169664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&amp; Demonstrate</a:t>
            </a:r>
            <a:endParaRPr lang="en-US" sz="1300" dirty="0"/>
          </a:p>
        </p:txBody>
      </p:sp>
      <p:sp>
        <p:nvSpPr>
          <p:cNvPr id="41" name="Text 29"/>
          <p:cNvSpPr txBox="1"/>
          <p:nvPr/>
        </p:nvSpPr>
        <p:spPr>
          <a:xfrm>
            <a:off x="7891272" y="4462272"/>
            <a:ext cx="3721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delivered with examples and visuals suited to the learner’s level.</a:t>
            </a:r>
            <a:endParaRPr lang="en-US" sz="1150" dirty="0"/>
          </a:p>
        </p:txBody>
      </p:sp>
      <p:sp>
        <p:nvSpPr>
          <p:cNvPr id="42" name="Shape 30"/>
          <p:cNvSpPr/>
          <p:nvPr/>
        </p:nvSpPr>
        <p:spPr>
          <a:xfrm>
            <a:off x="7178040" y="5084064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43" name="Image 10" descr="/home/claude/shikshak/icons/syn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7410" y="5163434"/>
            <a:ext cx="408188" cy="408188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7891272" y="5065776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Adapt</a:t>
            </a:r>
            <a:endParaRPr lang="en-US" sz="1300" dirty="0"/>
          </a:p>
        </p:txBody>
      </p:sp>
      <p:sp>
        <p:nvSpPr>
          <p:cNvPr id="45" name="Text 32"/>
          <p:cNvSpPr txBox="1"/>
          <p:nvPr/>
        </p:nvSpPr>
        <p:spPr>
          <a:xfrm>
            <a:off x="7891272" y="5358384"/>
            <a:ext cx="3721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reshapes what happens in the very next step.</a:t>
            </a:r>
            <a:endParaRPr lang="en-US" sz="1150" dirty="0"/>
          </a:p>
        </p:txBody>
      </p:sp>
      <p:sp>
        <p:nvSpPr>
          <p:cNvPr id="46" name="Text 33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MORROW 1.0</a:t>
            </a:r>
            <a:endParaRPr lang="en-US" sz="900" dirty="0"/>
          </a:p>
        </p:txBody>
      </p:sp>
      <p:sp>
        <p:nvSpPr>
          <p:cNvPr id="47" name="Text 3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INNOVATION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Lesson Changes With the Learner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tools mark an answer right or wrong and move on. Shikshak AI treats every student response as information — it decides what to teach next based on what the learner just showed they do or don’t understand.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90572"/>
            <a:ext cx="5120640" cy="1234440"/>
          </a:xfrm>
          <a:prstGeom prst="roundRect">
            <a:avLst>
              <a:gd name="adj" fmla="val 3902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5793" y="233172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7" name="Image 0" descr="/home/claude/shikshak/icons/comment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2409633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415652"/>
            <a:ext cx="3840480" cy="974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r>
              <a:rPr lang="en-US" sz="14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to current when resistance increases?”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an incorrect answer.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77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simply marking it wrong, Shikshak AI runs a short recovery cycle before moving on: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4526280"/>
            <a:ext cx="585216" cy="585216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1" name="Image 1" descr="/home/claude/shikshak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78" y="4608210"/>
            <a:ext cx="421356" cy="4213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5166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700784" y="4754880"/>
            <a:ext cx="182880" cy="164592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4" name="Shape 10"/>
          <p:cNvSpPr/>
          <p:nvPr/>
        </p:nvSpPr>
        <p:spPr>
          <a:xfrm>
            <a:off x="2157984" y="4526280"/>
            <a:ext cx="585216" cy="585216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5" name="Image 2" descr="/home/claude/shikshak/icons/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9914" y="4608210"/>
            <a:ext cx="421356" cy="4213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73936" y="5166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Re-explain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017520" y="4754880"/>
            <a:ext cx="182880" cy="164592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18" name="Shape 13"/>
          <p:cNvSpPr/>
          <p:nvPr/>
        </p:nvSpPr>
        <p:spPr>
          <a:xfrm>
            <a:off x="3474720" y="4526280"/>
            <a:ext cx="585216" cy="585216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9" name="Image 3" descr="/home/claude/shikshak/icons/play_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6650" y="4608210"/>
            <a:ext cx="421356" cy="42135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090672" y="5166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334256" y="4754880"/>
            <a:ext cx="182880" cy="164592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22" name="Shape 16"/>
          <p:cNvSpPr/>
          <p:nvPr/>
        </p:nvSpPr>
        <p:spPr>
          <a:xfrm>
            <a:off x="4791456" y="4526280"/>
            <a:ext cx="585216" cy="585216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23" name="Image 4" descr="/home/claude/shikshak/icons/check_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386" y="4608210"/>
            <a:ext cx="421356" cy="42135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407408" y="51663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126480" y="196596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1E3A5F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644652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Adaptation Decision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6446520" y="265176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8" name="Image 5" descr="/home/claude/shikshak/icons/comment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330" y="2728570"/>
            <a:ext cx="395021" cy="395021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132320" y="26334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</a:t>
            </a:r>
            <a:endParaRPr lang="en-US" sz="1350" dirty="0"/>
          </a:p>
        </p:txBody>
      </p:sp>
      <p:sp>
        <p:nvSpPr>
          <p:cNvPr id="30" name="Text 22"/>
          <p:cNvSpPr txBox="1"/>
          <p:nvPr/>
        </p:nvSpPr>
        <p:spPr>
          <a:xfrm>
            <a:off x="7132320" y="2907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response, right or wrong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6446520" y="34290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2" name="Image 6" descr="/home/claude/shikshak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330" y="3505810"/>
            <a:ext cx="395021" cy="395021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132320" y="34107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34" name="Text 25"/>
          <p:cNvSpPr txBox="1"/>
          <p:nvPr/>
        </p:nvSpPr>
        <p:spPr>
          <a:xfrm>
            <a:off x="7132320" y="36850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the intended concept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6446520" y="42062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6" name="Image 7" descr="/home/claude/shikshak/icons/exclamation_triang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3330" y="4283050"/>
            <a:ext cx="395021" cy="395021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132320" y="4187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/ Misconception</a:t>
            </a:r>
            <a:endParaRPr lang="en-US" sz="1350" dirty="0"/>
          </a:p>
        </p:txBody>
      </p:sp>
      <p:sp>
        <p:nvSpPr>
          <p:cNvPr id="38" name="Text 28"/>
          <p:cNvSpPr txBox="1"/>
          <p:nvPr/>
        </p:nvSpPr>
        <p:spPr>
          <a:xfrm>
            <a:off x="7132320" y="4462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learner actually grasped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6446520" y="49834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0" name="Image 8" descr="/home/claude/shikshak/icons/slid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3330" y="5060290"/>
            <a:ext cx="395021" cy="395021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132320" y="4965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Decision</a:t>
            </a:r>
            <a:endParaRPr lang="en-US" sz="1350" dirty="0"/>
          </a:p>
        </p:txBody>
      </p:sp>
      <p:sp>
        <p:nvSpPr>
          <p:cNvPr id="42" name="Text 31"/>
          <p:cNvSpPr txBox="1"/>
          <p:nvPr/>
        </p:nvSpPr>
        <p:spPr>
          <a:xfrm>
            <a:off x="7132320" y="5239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7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allow, simplify, re-teach, or re-plan</a:t>
            </a:r>
            <a:endParaRPr lang="en-US" sz="1100" dirty="0"/>
          </a:p>
        </p:txBody>
      </p:sp>
      <p:sp>
        <p:nvSpPr>
          <p:cNvPr id="43" name="Text 32"/>
          <p:cNvSpPr txBox="1"/>
          <p:nvPr/>
        </p:nvSpPr>
        <p:spPr>
          <a:xfrm>
            <a:off x="6446520" y="5623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student’s response becomes an input to the next lesson step.</a:t>
            </a:r>
            <a:endParaRPr lang="en-US" sz="1300" dirty="0"/>
          </a:p>
        </p:txBody>
      </p:sp>
      <p:sp>
        <p:nvSpPr>
          <p:cNvPr id="44" name="Text 33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MORROW 1.0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Make It Possible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work together: one grounds the lesson in real material, one runs the teaching process, and one delivers it to the student — with every response looping back to adjust what happens next.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7672" y="2130552"/>
            <a:ext cx="768096" cy="768096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7" name="Image 0" descr="/home/claude/shiksha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205" y="2238085"/>
            <a:ext cx="553029" cy="55302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10712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uploaded documents and retrieves the exact passages needed, so every explanation stays grounded in the student’s own material rather than guesswork.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480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Grounding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28516" y="3488436"/>
            <a:ext cx="201168" cy="201168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12" name="Shape 9"/>
          <p:cNvSpPr/>
          <p:nvPr/>
        </p:nvSpPr>
        <p:spPr>
          <a:xfrm>
            <a:off x="4343400" y="187452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42432" y="2130552"/>
            <a:ext cx="768096" cy="768096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4" name="Image 1" descr="/home/claude/shikshak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965" y="2238085"/>
            <a:ext cx="553029" cy="55302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34340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Teaching Engine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3410712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specialized components — not one giant prompt — plans, explains, questions, evaluates, and decides how to adapt at every stage of the lesson.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4480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Questioner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+ Adaptation Controller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923276" y="3488436"/>
            <a:ext cx="201168" cy="201168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19" name="Shape 15"/>
          <p:cNvSpPr/>
          <p:nvPr/>
        </p:nvSpPr>
        <p:spPr>
          <a:xfrm>
            <a:off x="8138160" y="1874520"/>
            <a:ext cx="3566160" cy="3429000"/>
          </a:xfrm>
          <a:prstGeom prst="roundRect">
            <a:avLst>
              <a:gd name="adj" fmla="val 2133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537192" y="2130552"/>
            <a:ext cx="768096" cy="768096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2" descr="/home/claude/shikshak/icons/play_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4725" y="2238085"/>
            <a:ext cx="553029" cy="55302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38160" y="3017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Lesson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412480" y="3410712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teaching engine’s output becomes an actual lesson — explanation, visuals, and voice — delivered back to the student for the next round of interaction.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8412480" y="44805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Script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&amp; Diagrams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Video Delivery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interaction and evaluation results continuously loop back into the AI Teaching Engine — this is what keeps the lesson adaptive from start to finish.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MORROW 1.0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LEARNING JOURNEY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Student. One Personalized Lesson.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single learner from their first request through to a finished, personalized lesson — the same seven-step flow every Shikshak AI session runs 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536192" cy="2880360"/>
          </a:xfrm>
          <a:prstGeom prst="roundRect">
            <a:avLst>
              <a:gd name="adj" fmla="val 4167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57400"/>
            <a:ext cx="621792" cy="621792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7" name="Image 0" descr="/home/claude/shikshak/icons/file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91" y="2144451"/>
            <a:ext cx="447690" cy="4476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277063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76656" y="31546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 asks for a 20-minute lesson on Electricity, built from their own uploaded textbook.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03120" y="2313432"/>
            <a:ext cx="15240" cy="146304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11" name="Shape 8"/>
          <p:cNvSpPr/>
          <p:nvPr/>
        </p:nvSpPr>
        <p:spPr>
          <a:xfrm>
            <a:off x="2136648" y="1874520"/>
            <a:ext cx="1536192" cy="2880360"/>
          </a:xfrm>
          <a:prstGeom prst="roundRect">
            <a:avLst>
              <a:gd name="adj" fmla="val 4167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93848" y="2057400"/>
            <a:ext cx="621792" cy="621792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3" name="Image 1" descr="/home/claude/shikshak/icons/clipboard_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0899" y="2144451"/>
            <a:ext cx="447690" cy="4476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209800" y="277063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264664" y="31546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concepts, teaching sequence, and checkpoints are laid out before teaching begins.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91128" y="2313432"/>
            <a:ext cx="15240" cy="146304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17" name="Shape 13"/>
          <p:cNvSpPr/>
          <p:nvPr/>
        </p:nvSpPr>
        <p:spPr>
          <a:xfrm>
            <a:off x="3724656" y="1874520"/>
            <a:ext cx="1536192" cy="2880360"/>
          </a:xfrm>
          <a:prstGeom prst="roundRect">
            <a:avLst>
              <a:gd name="adj" fmla="val 4167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81856" y="2057400"/>
            <a:ext cx="621792" cy="621792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9" name="Image 2" descr="/home/claude/shikshak/icons/chalkboard_teach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8907" y="2144451"/>
            <a:ext cx="447690" cy="44769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797808" y="277063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Teaches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3852672" y="31546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is explained with examples and supporting visuals.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79136" y="2313432"/>
            <a:ext cx="15240" cy="146304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23" name="Shape 18"/>
          <p:cNvSpPr/>
          <p:nvPr/>
        </p:nvSpPr>
        <p:spPr>
          <a:xfrm>
            <a:off x="5312664" y="1874520"/>
            <a:ext cx="1536192" cy="2880360"/>
          </a:xfrm>
          <a:prstGeom prst="roundRect">
            <a:avLst>
              <a:gd name="adj" fmla="val 4167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769864" y="2057400"/>
            <a:ext cx="621792" cy="621792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25" name="Image 3" descr="/home/claude/shikshak/icons/question_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6915" y="2144451"/>
            <a:ext cx="447690" cy="44769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385816" y="277063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Checks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440680" y="31546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is asked mid-lesson to test real understanding.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867144" y="2313432"/>
            <a:ext cx="15240" cy="146304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29" name="Shape 23"/>
          <p:cNvSpPr/>
          <p:nvPr/>
        </p:nvSpPr>
        <p:spPr>
          <a:xfrm>
            <a:off x="6900672" y="1874520"/>
            <a:ext cx="1536192" cy="2880360"/>
          </a:xfrm>
          <a:prstGeom prst="roundRect">
            <a:avLst>
              <a:gd name="adj" fmla="val 4167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357872" y="2057400"/>
            <a:ext cx="621792" cy="621792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1" name="Image 4" descr="/home/claude/shikshak/icons/comment_do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4923" y="2144451"/>
            <a:ext cx="447690" cy="44769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973824" y="277063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Responds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7028688" y="31546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reveals an incorrect understanding of the concept.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455152" y="2313432"/>
            <a:ext cx="15240" cy="146304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35" name="Shape 28"/>
          <p:cNvSpPr/>
          <p:nvPr/>
        </p:nvSpPr>
        <p:spPr>
          <a:xfrm>
            <a:off x="8488680" y="1874520"/>
            <a:ext cx="1536192" cy="2880360"/>
          </a:xfrm>
          <a:prstGeom prst="roundRect">
            <a:avLst>
              <a:gd name="adj" fmla="val 4167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945880" y="2057400"/>
            <a:ext cx="621792" cy="621792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37" name="Image 5" descr="/home/claude/shikshak/icons/syn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2931" y="2144451"/>
            <a:ext cx="447690" cy="44769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561832" y="277063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Adapts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8616696" y="31546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simpler explanation and a fresh example are given in response.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10043160" y="2313432"/>
            <a:ext cx="15240" cy="146304"/>
          </a:xfrm>
          <a:prstGeom prst="rightArrow">
            <a:avLst/>
          </a:prstGeom>
          <a:solidFill>
            <a:srgbClr val="3E7CB1"/>
          </a:solidFill>
          <a:ln/>
        </p:spPr>
      </p:sp>
      <p:sp>
        <p:nvSpPr>
          <p:cNvPr id="41" name="Shape 33"/>
          <p:cNvSpPr/>
          <p:nvPr/>
        </p:nvSpPr>
        <p:spPr>
          <a:xfrm>
            <a:off x="10076688" y="1874520"/>
            <a:ext cx="1536192" cy="2880360"/>
          </a:xfrm>
          <a:prstGeom prst="roundRect">
            <a:avLst>
              <a:gd name="adj" fmla="val 4167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10533888" y="2057400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3" name="Image 6" descr="/home/claude/shikshak/icons/chart_ba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939" y="2144451"/>
            <a:ext cx="447690" cy="44769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0149840" y="2770632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Assessment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10204704" y="31546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score, weak areas, and a recommended next topic are produced.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request becomes a full teaching-and-adaptation cycle — planned, delivered, checked, adjusted, and assessed, end to end.</a:t>
            </a:r>
            <a:endParaRPr lang="en-US" sz="1300" dirty="0"/>
          </a:p>
        </p:txBody>
      </p:sp>
      <p:sp>
        <p:nvSpPr>
          <p:cNvPr id="47" name="Text 38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MORROW 1.0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DIFFERENT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Conventional EdTech &amp; Chatbots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51660" y="1828800"/>
            <a:ext cx="822960" cy="822960"/>
          </a:xfrm>
          <a:prstGeom prst="ellipse">
            <a:avLst/>
          </a:prstGeom>
          <a:solidFill>
            <a:srgbClr val="5B6B7A"/>
          </a:solidFill>
          <a:ln/>
        </p:spPr>
      </p:sp>
      <p:pic>
        <p:nvPicPr>
          <p:cNvPr id="6" name="Image 0" descr="/home/claude/shikshak/icons/book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874" y="1944014"/>
            <a:ext cx="592531" cy="5925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88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Learning Platforms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same fixed videos or slides to every learner. There is no personalization, no interaction, and no sense of whether the student actually understood anything.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429000" cy="3566160"/>
          </a:xfrm>
          <a:prstGeom prst="roundRect">
            <a:avLst>
              <a:gd name="adj" fmla="val 2400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00700" y="1828800"/>
            <a:ext cx="822960" cy="82296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11" name="Image 1" descr="/home/claude/shikshak/icons/comm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914" y="194401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97680" y="27889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324612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well to direct questions, but wait passively for the student to ask. There is no lesson structure, no planned progression, and no continuous check on understanding.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371600"/>
            <a:ext cx="3429000" cy="3931920"/>
          </a:xfrm>
          <a:prstGeom prst="roundRect">
            <a:avLst>
              <a:gd name="adj" fmla="val 24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49740" y="164592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shikshak/icons/graduation_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954" y="1761134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46720" y="26060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30632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 structured lesson, teaches it interactively, questions the student along the way, and adapts the next step to what they actually know — grounded in their own material.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046720" y="4846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SHIKSHAK APPROACH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isn’t more content or a nicer interface — it’s a structured, adaptive teaching process the other two approaches simply don’t have.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MORROW 1.0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+ FEASIBILITY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Today’s AI, Designed for a Real MVP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rests on three proven ideas working together, not a single experimental technique — which is what makes a working prototype realistic within the hackathon timebox.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40280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7" name="Image 0" descr="/home/claude/shikshak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2332452"/>
            <a:ext cx="474025" cy="47402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Reasoning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021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handle reasoning and generation, while RAG keeps every explanation grounded in the material the student actually uploaded.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2240280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2" name="Image 1" descr="/home/claude/shikshak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892" y="2332452"/>
            <a:ext cx="474025" cy="47402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Teaching Orchestration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5021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plan, explain, question, and adapt as a coordinated process — the structured loop, not a single free-form chat.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196596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12480" y="2240280"/>
            <a:ext cx="658368" cy="658368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7" name="Image 2" descr="/home/claude/shikshak/icons/chart_b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652" y="2332452"/>
            <a:ext cx="474025" cy="4740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3017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Delivery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35021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evaluates student responses and detects misconceptions, while generated visuals and voice carry the lesson to the learner.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ln/>
        </p:spPr>
      </p:sp>
      <p:sp>
        <p:nvSpPr>
          <p:cNvPr id="21" name="Shape 16"/>
          <p:cNvSpPr/>
          <p:nvPr/>
        </p:nvSpPr>
        <p:spPr>
          <a:xfrm>
            <a:off x="868680" y="512064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3" descr="/home/claude/shikshak/icons/bulls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90" y="520385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91640" y="489204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Principle:  </a:t>
            </a: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teaching intelligence and adaptation first; add presentation sophistication only where it improves learning.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MORROW 1.0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+ CONCLUSION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Reimagining Personalized Learning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home/claude/shikshak/icons/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32" y="1875252"/>
            <a:ext cx="474025" cy="4740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learner receives a lesson matched to their level, pace, and goals — not a generic one-size-fits-all path.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78308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/home/claude/shikshak/icons/hands_hel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172" y="1875252"/>
            <a:ext cx="474025" cy="4740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teaching support is available whenever a student needs it, without waiting on a tutor’s schedule.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3F6FA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21040" y="178308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home/claude/shikshak/icons/chart_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212" y="1875252"/>
            <a:ext cx="474025" cy="47402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5603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92608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teaching system can support many individualized learning journeys at the same time, at low incremental cost.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3A5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22960" y="4023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turns AI from a question-answering tool into an adaptive teaching partner.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3E7CB1"/>
          </a:solidFill>
          <a:ln/>
        </p:spPr>
      </p:sp>
      <p:pic>
        <p:nvPicPr>
          <p:cNvPr id="22" name="Image 3" descr="/home/claude/shikshak/icons/ro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50" y="5243170"/>
            <a:ext cx="395021" cy="39502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34440" y="5166360"/>
            <a:ext cx="10378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 </a:t>
            </a: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MVP → working prototype → a modular, open educational AI system — aligned with Morrow’s vision for real-world, scalable AI innovation.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MORROW 1.0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16304D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39" y="1324052"/>
            <a:ext cx="1005840" cy="100584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4" name="Image 0" descr="/home/claude/shikshak/icons/graduation_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657" y="1420978"/>
            <a:ext cx="724205" cy="7242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514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SHIKSHAK AI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886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FC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Teacher That Doesn’t Just Answer — It Teaches.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Binary Brains  ·  Sagnik Chandra (Team Leader)  ·  Shrusti Jain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9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SHIKSHAK AI  ·  MORROW 1.0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1368</Words>
  <Application>Microsoft Office PowerPoint</Application>
  <PresentationFormat>Widescreen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Shrusti Jain</cp:lastModifiedBy>
  <cp:revision>3</cp:revision>
  <dcterms:created xsi:type="dcterms:W3CDTF">2026-09-05T14:51:16Z</dcterms:created>
  <dcterms:modified xsi:type="dcterms:W3CDTF">2026-09-05T15:04:24Z</dcterms:modified>
</cp:coreProperties>
</file>